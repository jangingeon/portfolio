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59985" cy="10691988"/>
  <p:notesSz cx="10691988" cy="755998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템플릿 슬라이드입니다. 각 텍스트 상자를 클릭해 내용을 바꾸세요.
좌측 바의 로고는 그림 개체이므로 [그림 서식 &gt; 그림 바꾸기]로 학교 공식 로고로 교체할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2026-2학기 15주차 강연 정보를 채워 넣은 예시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RTFOLIO/ae7f2165-5978-53c2-a65a-9e038c81c430/scratchpad/ppt/assets/orange/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55887" cy="10692079"/>
          </a:xfrm>
          <a:prstGeom prst="rect">
            <a:avLst/>
          </a:prstGeom>
        </p:spPr>
      </p:pic>
      <p:pic>
        <p:nvPicPr>
          <p:cNvPr id="3" name="Image 1" descr="/tmp/claude-0/-home-user-PORTFOLIO/ae7f2165-5978-53c2-a65a-9e038c81c430/scratchpad/ppt/assets/orange/molec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198" y="-143927"/>
            <a:ext cx="3311957" cy="2614635"/>
          </a:xfrm>
          <a:prstGeom prst="rect">
            <a:avLst/>
          </a:prstGeom>
        </p:spPr>
      </p:pic>
      <p:pic>
        <p:nvPicPr>
          <p:cNvPr id="4" name="Image 2" descr="/tmp/claude-0/-home-user-PORTFOLIO/ae7f2165-5978-53c2-a65a-9e038c81c430/scratchpad/ppt/assets/orange/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361" y="6732361"/>
            <a:ext cx="2159996" cy="2879903"/>
          </a:xfrm>
          <a:prstGeom prst="rect">
            <a:avLst/>
          </a:prstGeom>
        </p:spPr>
      </p:pic>
      <p:pic>
        <p:nvPicPr>
          <p:cNvPr id="5" name="Image 3" descr="/tmp/claude-0/-home-user-PORTFOLIO/ae7f2165-5978-53c2-a65a-9e038c81c430/scratchpad/ppt/assets/orange/conto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887" y="8747790"/>
            <a:ext cx="6165251" cy="2088215"/>
          </a:xfrm>
          <a:prstGeom prst="rect">
            <a:avLst/>
          </a:prstGeom>
        </p:spPr>
      </p:pic>
      <p:pic>
        <p:nvPicPr>
          <p:cNvPr id="6" name="Image 4" descr="/tmp/claude-0/-home-user-PORTFOLIO/ae7f2165-5978-53c2-a65a-9e038c81c430/scratchpad/ppt/assets/orange/ribb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0"/>
            <a:ext cx="1079906" cy="1027694"/>
          </a:xfrm>
          <a:prstGeom prst="rect">
            <a:avLst/>
          </a:prstGeom>
        </p:spPr>
      </p:pic>
      <p:pic>
        <p:nvPicPr>
          <p:cNvPr id="7" name="Image 5" descr="/tmp/claude-0/-home-user-PORTFOLIO/ae7f2165-5978-53c2-a65a-9e038c81c430/scratchpad/ppt/assets/orange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967" y="467898"/>
            <a:ext cx="539953" cy="539953"/>
          </a:xfrm>
          <a:prstGeom prst="rect">
            <a:avLst/>
          </a:prstGeom>
        </p:spPr>
      </p:pic>
      <p:pic>
        <p:nvPicPr>
          <p:cNvPr id="8" name="Image 6" descr="/tmp/claude-0/-home-user-PORTFOLIO/ae7f2165-5978-53c2-a65a-9e038c81c430/scratchpad/ppt/assets/orange/icon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785" y="5910956"/>
            <a:ext cx="453451" cy="453451"/>
          </a:xfrm>
          <a:prstGeom prst="rect">
            <a:avLst/>
          </a:prstGeom>
        </p:spPr>
      </p:pic>
      <p:pic>
        <p:nvPicPr>
          <p:cNvPr id="9" name="Image 7" descr="/tmp/claude-0/-home-user-PORTFOLIO/ae7f2165-5978-53c2-a65a-9e038c81c430/scratchpad/ppt/assets/orange/icon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3785" y="6624737"/>
            <a:ext cx="453451" cy="453451"/>
          </a:xfrm>
          <a:prstGeom prst="rect">
            <a:avLst/>
          </a:prstGeom>
        </p:spPr>
      </p:pic>
      <p:pic>
        <p:nvPicPr>
          <p:cNvPr id="10" name="Image 8" descr="/tmp/claude-0/-home-user-PORTFOLIO/ae7f2165-5978-53c2-a65a-9e038c81c430/scratchpad/ppt/assets/orange/icon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3785" y="7358908"/>
            <a:ext cx="453451" cy="453451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2123785" y="730788"/>
            <a:ext cx="4005438" cy="14265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Shape 1"/>
          <p:cNvSpPr/>
          <p:nvPr/>
        </p:nvSpPr>
        <p:spPr>
          <a:xfrm>
            <a:off x="2123785" y="3099267"/>
            <a:ext cx="5229454" cy="13350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3" name="Shape 2"/>
          <p:cNvSpPr/>
          <p:nvPr/>
        </p:nvSpPr>
        <p:spPr>
          <a:xfrm>
            <a:off x="2123785" y="4691146"/>
            <a:ext cx="3346704" cy="13350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4" name="Shape 3"/>
          <p:cNvSpPr/>
          <p:nvPr/>
        </p:nvSpPr>
        <p:spPr>
          <a:xfrm>
            <a:off x="2123785" y="9183685"/>
            <a:ext cx="5229454" cy="13350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821680" y="1295979"/>
            <a:ext cx="13350" cy="323972"/>
          </a:xfrm>
          <a:prstGeom prst="rect">
            <a:avLst/>
          </a:prstGeom>
          <a:solidFill>
            <a:srgbClr val="F6BC94"/>
          </a:solidFill>
          <a:ln w="12700">
            <a:solidFill>
              <a:srgbClr val="F6BC94"/>
            </a:solidFill>
            <a:prstDash val="solid"/>
          </a:ln>
        </p:spPr>
      </p:sp>
      <p:sp>
        <p:nvSpPr>
          <p:cNvPr id="16" name="Shape 5"/>
          <p:cNvSpPr/>
          <p:nvPr/>
        </p:nvSpPr>
        <p:spPr>
          <a:xfrm>
            <a:off x="3576676" y="9421063"/>
            <a:ext cx="13350" cy="143927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7" name="Shape 6"/>
          <p:cNvSpPr/>
          <p:nvPr/>
        </p:nvSpPr>
        <p:spPr>
          <a:xfrm>
            <a:off x="4733117" y="9421063"/>
            <a:ext cx="13350" cy="143927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8" name="Shape 7"/>
          <p:cNvSpPr/>
          <p:nvPr/>
        </p:nvSpPr>
        <p:spPr>
          <a:xfrm>
            <a:off x="5889559" y="9421063"/>
            <a:ext cx="13350" cy="143927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2739177" y="6066130"/>
            <a:ext cx="13350" cy="142921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20" name="Shape 9"/>
          <p:cNvSpPr/>
          <p:nvPr/>
        </p:nvSpPr>
        <p:spPr>
          <a:xfrm>
            <a:off x="2739177" y="6780002"/>
            <a:ext cx="13350" cy="142921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2739177" y="7514173"/>
            <a:ext cx="13350" cy="142921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22" name="Shape 11"/>
          <p:cNvSpPr/>
          <p:nvPr/>
        </p:nvSpPr>
        <p:spPr>
          <a:xfrm>
            <a:off x="2739360" y="6479621"/>
            <a:ext cx="4109954" cy="0"/>
          </a:xfrm>
          <a:prstGeom prst="line">
            <a:avLst/>
          </a:prstGeom>
          <a:noFill/>
          <a:ln w="9525">
            <a:solidFill>
              <a:srgbClr val="DCCFC2"/>
            </a:solidFill>
            <a:prstDash val="dash"/>
          </a:ln>
        </p:spPr>
      </p:sp>
      <p:sp>
        <p:nvSpPr>
          <p:cNvPr id="23" name="Shape 12"/>
          <p:cNvSpPr/>
          <p:nvPr/>
        </p:nvSpPr>
        <p:spPr>
          <a:xfrm>
            <a:off x="2739360" y="7213793"/>
            <a:ext cx="4109954" cy="0"/>
          </a:xfrm>
          <a:prstGeom prst="line">
            <a:avLst/>
          </a:prstGeom>
          <a:noFill/>
          <a:ln w="9525">
            <a:solidFill>
              <a:srgbClr val="DCCFC2"/>
            </a:solidFill>
            <a:prstDash val="dash"/>
          </a:ln>
        </p:spPr>
      </p:sp>
      <p:sp>
        <p:nvSpPr>
          <p:cNvPr id="24" name="Text 13"/>
          <p:cNvSpPr txBox="1"/>
          <p:nvPr/>
        </p:nvSpPr>
        <p:spPr>
          <a:xfrm>
            <a:off x="-372618" y="1087039"/>
            <a:ext cx="2401032" cy="205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46" b="1" spc="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dongguk</a:t>
            </a:r>
            <a:endParaRPr lang="en-US" sz="1446" dirty="0"/>
          </a:p>
        </p:txBody>
      </p:sp>
      <p:sp>
        <p:nvSpPr>
          <p:cNvPr id="25" name="Text 14"/>
          <p:cNvSpPr txBox="1"/>
          <p:nvPr/>
        </p:nvSpPr>
        <p:spPr>
          <a:xfrm>
            <a:off x="-372618" y="1292779"/>
            <a:ext cx="2401032" cy="205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46" spc="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university</a:t>
            </a:r>
            <a:endParaRPr lang="en-US" sz="1446" dirty="0"/>
          </a:p>
        </p:txBody>
      </p:sp>
      <p:sp>
        <p:nvSpPr>
          <p:cNvPr id="26" name="Text 15"/>
          <p:cNvSpPr txBox="1"/>
          <p:nvPr/>
        </p:nvSpPr>
        <p:spPr>
          <a:xfrm>
            <a:off x="723656" y="1727942"/>
            <a:ext cx="208666" cy="500323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ver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5" spc="259" kern="0" dirty="0">
                <a:solidFill>
                  <a:srgbClr val="FD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DEPARTMENT OF CHEMICAL AND BIOCHEMICAL ENGINEERING</a:t>
            </a:r>
            <a:endParaRPr lang="en-US" sz="865" dirty="0"/>
          </a:p>
        </p:txBody>
      </p:sp>
      <p:sp>
        <p:nvSpPr>
          <p:cNvPr id="27" name="Text 16"/>
          <p:cNvSpPr txBox="1"/>
          <p:nvPr/>
        </p:nvSpPr>
        <p:spPr>
          <a:xfrm>
            <a:off x="125913" y="9828154"/>
            <a:ext cx="1959925" cy="648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2" spc="51" kern="0" dirty="0">
                <a:ln w="16256">
                  <a:solidFill>
                    <a:srgbClr val="9F7D6D"/>
                  </a:solidFill>
                </a:ln>
                <a:no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CBE</a:t>
            </a:r>
            <a:endParaRPr lang="en-US" sz="5102" dirty="0"/>
          </a:p>
        </p:txBody>
      </p:sp>
      <p:sp>
        <p:nvSpPr>
          <p:cNvPr id="28" name="Text 17"/>
          <p:cNvSpPr txBox="1"/>
          <p:nvPr/>
        </p:nvSpPr>
        <p:spPr>
          <a:xfrm>
            <a:off x="6066404" y="233995"/>
            <a:ext cx="1565910" cy="237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1" b="1" spc="-19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871" dirty="0"/>
          </a:p>
        </p:txBody>
      </p:sp>
      <p:sp>
        <p:nvSpPr>
          <p:cNvPr id="29" name="Text 18"/>
          <p:cNvSpPr txBox="1"/>
          <p:nvPr/>
        </p:nvSpPr>
        <p:spPr>
          <a:xfrm>
            <a:off x="6066404" y="511058"/>
            <a:ext cx="1565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4" b="1" spc="-1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화공세미나</a:t>
            </a:r>
            <a:endParaRPr lang="en-US" sz="1304" dirty="0"/>
          </a:p>
        </p:txBody>
      </p:sp>
      <p:sp>
        <p:nvSpPr>
          <p:cNvPr id="30" name="Text 19"/>
          <p:cNvSpPr txBox="1"/>
          <p:nvPr/>
        </p:nvSpPr>
        <p:spPr>
          <a:xfrm>
            <a:off x="2123785" y="503926"/>
            <a:ext cx="4005438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" b="1" spc="178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Chemical &amp; Biochemical Engineering Seminar</a:t>
            </a:r>
            <a:endParaRPr lang="en-US" sz="935" dirty="0"/>
          </a:p>
        </p:txBody>
      </p:sp>
      <p:sp>
        <p:nvSpPr>
          <p:cNvPr id="31" name="Text 20"/>
          <p:cNvSpPr txBox="1"/>
          <p:nvPr/>
        </p:nvSpPr>
        <p:spPr>
          <a:xfrm>
            <a:off x="2123785" y="1040496"/>
            <a:ext cx="5229454" cy="5429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27" spc="38" kern="0" dirty="0">
                <a:solidFill>
                  <a:srgbClr val="CD7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2026-2</a:t>
            </a:r>
            <a:pPr algn="l" indent="0" marL="0">
              <a:lnSpc>
                <a:spcPct val="100000"/>
              </a:lnSpc>
              <a:buNone/>
            </a:pPr>
            <a:r>
              <a:rPr lang="en-US" sz="2381" b="1" spc="-24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00주차</a:t>
            </a:r>
            <a:endParaRPr lang="en-US" sz="3827" dirty="0"/>
          </a:p>
        </p:txBody>
      </p:sp>
      <p:sp>
        <p:nvSpPr>
          <p:cNvPr id="32" name="Text 21"/>
          <p:cNvSpPr txBox="1"/>
          <p:nvPr/>
        </p:nvSpPr>
        <p:spPr>
          <a:xfrm>
            <a:off x="2123785" y="1590965"/>
            <a:ext cx="7582662" cy="936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28" b="1" spc="-202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화공세미나</a:t>
            </a:r>
            <a:endParaRPr lang="en-US" sz="7228" dirty="0"/>
          </a:p>
        </p:txBody>
      </p:sp>
      <p:sp>
        <p:nvSpPr>
          <p:cNvPr id="33" name="Text 22"/>
          <p:cNvSpPr txBox="1"/>
          <p:nvPr/>
        </p:nvSpPr>
        <p:spPr>
          <a:xfrm>
            <a:off x="2123785" y="2620762"/>
            <a:ext cx="5229454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76" spc="108" kern="0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Chemical &amp; Biochemical Engineering Seminar</a:t>
            </a:r>
            <a:endParaRPr lang="en-US" sz="1276" dirty="0"/>
          </a:p>
        </p:txBody>
      </p:sp>
      <p:sp>
        <p:nvSpPr>
          <p:cNvPr id="34" name="Text 23"/>
          <p:cNvSpPr txBox="1"/>
          <p:nvPr/>
        </p:nvSpPr>
        <p:spPr>
          <a:xfrm>
            <a:off x="2123785" y="3362706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20" b="1" spc="265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Speaker</a:t>
            </a:r>
            <a:endParaRPr lang="en-US" sz="1020" dirty="0"/>
          </a:p>
        </p:txBody>
      </p:sp>
      <p:sp>
        <p:nvSpPr>
          <p:cNvPr id="35" name="Text 24"/>
          <p:cNvSpPr txBox="1"/>
          <p:nvPr/>
        </p:nvSpPr>
        <p:spPr>
          <a:xfrm>
            <a:off x="2123785" y="3627882"/>
            <a:ext cx="5229454" cy="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18" b="1" spc="-62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연사 성함</a:t>
            </a:r>
            <a:endParaRPr lang="en-US" sz="3118" dirty="0"/>
          </a:p>
        </p:txBody>
      </p:sp>
      <p:sp>
        <p:nvSpPr>
          <p:cNvPr id="36" name="Text 25"/>
          <p:cNvSpPr txBox="1"/>
          <p:nvPr/>
        </p:nvSpPr>
        <p:spPr>
          <a:xfrm>
            <a:off x="2123785" y="4136106"/>
            <a:ext cx="5229454" cy="55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2" dirty="0">
                <a:solidFill>
                  <a:srgbClr val="4A3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및 직위</a:t>
            </a:r>
            <a:endParaRPr lang="en-US" sz="1502" dirty="0"/>
          </a:p>
        </p:txBody>
      </p:sp>
      <p:sp>
        <p:nvSpPr>
          <p:cNvPr id="37" name="Text 26"/>
          <p:cNvSpPr txBox="1"/>
          <p:nvPr/>
        </p:nvSpPr>
        <p:spPr>
          <a:xfrm>
            <a:off x="2123785" y="4954585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20" b="1" spc="265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</a:t>
            </a:r>
            <a:endParaRPr lang="en-US" sz="1020" dirty="0"/>
          </a:p>
        </p:txBody>
      </p:sp>
      <p:sp>
        <p:nvSpPr>
          <p:cNvPr id="38" name="Text 27"/>
          <p:cNvSpPr txBox="1"/>
          <p:nvPr/>
        </p:nvSpPr>
        <p:spPr>
          <a:xfrm>
            <a:off x="2123785" y="5219761"/>
            <a:ext cx="5229454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1" b="1" spc="-64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강연 제목을 입력해주세요</a:t>
            </a:r>
            <a:endParaRPr lang="en-US" sz="2551" dirty="0"/>
          </a:p>
        </p:txBody>
      </p:sp>
      <p:sp>
        <p:nvSpPr>
          <p:cNvPr id="39" name="Text 28"/>
          <p:cNvSpPr txBox="1"/>
          <p:nvPr/>
        </p:nvSpPr>
        <p:spPr>
          <a:xfrm>
            <a:off x="2739177" y="6066130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</a:t>
            </a:r>
            <a:endParaRPr lang="en-US" sz="992" dirty="0"/>
          </a:p>
        </p:txBody>
      </p:sp>
      <p:sp>
        <p:nvSpPr>
          <p:cNvPr id="40" name="Text 29"/>
          <p:cNvSpPr txBox="1"/>
          <p:nvPr/>
        </p:nvSpPr>
        <p:spPr>
          <a:xfrm>
            <a:off x="3603010" y="6003676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00. 00 (수)</a:t>
            </a:r>
            <a:endParaRPr lang="en-US" sz="1757" dirty="0"/>
          </a:p>
        </p:txBody>
      </p:sp>
      <p:sp>
        <p:nvSpPr>
          <p:cNvPr id="41" name="Text 30"/>
          <p:cNvSpPr txBox="1"/>
          <p:nvPr/>
        </p:nvSpPr>
        <p:spPr>
          <a:xfrm>
            <a:off x="2739177" y="6780002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</a:t>
            </a:r>
            <a:endParaRPr lang="en-US" sz="992" dirty="0"/>
          </a:p>
        </p:txBody>
      </p:sp>
      <p:sp>
        <p:nvSpPr>
          <p:cNvPr id="42" name="Text 31"/>
          <p:cNvSpPr txBox="1"/>
          <p:nvPr/>
        </p:nvSpPr>
        <p:spPr>
          <a:xfrm>
            <a:off x="3603010" y="6604345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 – 18:20</a:t>
            </a:r>
            <a:endParaRPr lang="en-US" sz="1757" dirty="0"/>
          </a:p>
        </p:txBody>
      </p:sp>
      <p:sp>
        <p:nvSpPr>
          <p:cNvPr id="43" name="Text 32"/>
          <p:cNvSpPr txBox="1"/>
          <p:nvPr/>
        </p:nvSpPr>
        <p:spPr>
          <a:xfrm>
            <a:off x="3603010" y="6897411"/>
            <a:ext cx="3750229" cy="20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19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(50분 강의, 30분 질의응답)</a:t>
            </a:r>
            <a:endParaRPr lang="en-US" sz="1219" dirty="0"/>
          </a:p>
        </p:txBody>
      </p:sp>
      <p:sp>
        <p:nvSpPr>
          <p:cNvPr id="44" name="Text 33"/>
          <p:cNvSpPr txBox="1"/>
          <p:nvPr/>
        </p:nvSpPr>
        <p:spPr>
          <a:xfrm>
            <a:off x="2739177" y="7514173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VENUE</a:t>
            </a:r>
            <a:endParaRPr lang="en-US" sz="992" dirty="0"/>
          </a:p>
        </p:txBody>
      </p:sp>
      <p:sp>
        <p:nvSpPr>
          <p:cNvPr id="45" name="Text 34"/>
          <p:cNvSpPr txBox="1"/>
          <p:nvPr/>
        </p:nvSpPr>
        <p:spPr>
          <a:xfrm>
            <a:off x="3603010" y="7338517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원흥관 650호</a:t>
            </a:r>
            <a:endParaRPr lang="en-US" sz="1757" dirty="0"/>
          </a:p>
        </p:txBody>
      </p:sp>
      <p:sp>
        <p:nvSpPr>
          <p:cNvPr id="46" name="Text 35"/>
          <p:cNvSpPr txBox="1"/>
          <p:nvPr/>
        </p:nvSpPr>
        <p:spPr>
          <a:xfrm>
            <a:off x="3603010" y="7631582"/>
            <a:ext cx="3750229" cy="20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19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Wonheung Building, Room 650</a:t>
            </a:r>
            <a:endParaRPr lang="en-US" sz="1219" dirty="0"/>
          </a:p>
        </p:txBody>
      </p:sp>
      <p:sp>
        <p:nvSpPr>
          <p:cNvPr id="47" name="Text 36"/>
          <p:cNvSpPr txBox="1"/>
          <p:nvPr/>
        </p:nvSpPr>
        <p:spPr>
          <a:xfrm>
            <a:off x="2173254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최신기술</a:t>
            </a:r>
            <a:endParaRPr lang="en-US" sz="1191" dirty="0"/>
          </a:p>
        </p:txBody>
      </p:sp>
      <p:sp>
        <p:nvSpPr>
          <p:cNvPr id="48" name="Text 37"/>
          <p:cNvSpPr txBox="1"/>
          <p:nvPr/>
        </p:nvSpPr>
        <p:spPr>
          <a:xfrm>
            <a:off x="3329605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산업동향</a:t>
            </a:r>
            <a:endParaRPr lang="en-US" sz="1191" dirty="0"/>
          </a:p>
        </p:txBody>
      </p:sp>
      <p:sp>
        <p:nvSpPr>
          <p:cNvPr id="49" name="Text 38"/>
          <p:cNvSpPr txBox="1"/>
          <p:nvPr/>
        </p:nvSpPr>
        <p:spPr>
          <a:xfrm>
            <a:off x="4486046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진로탐색</a:t>
            </a:r>
            <a:endParaRPr lang="en-US" sz="1191" dirty="0"/>
          </a:p>
        </p:txBody>
      </p:sp>
      <p:sp>
        <p:nvSpPr>
          <p:cNvPr id="50" name="Text 39"/>
          <p:cNvSpPr txBox="1"/>
          <p:nvPr/>
        </p:nvSpPr>
        <p:spPr>
          <a:xfrm>
            <a:off x="5642488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미래비전</a:t>
            </a:r>
            <a:endParaRPr lang="en-US" sz="1191" dirty="0"/>
          </a:p>
        </p:txBody>
      </p:sp>
      <p:sp>
        <p:nvSpPr>
          <p:cNvPr id="51" name="Text 40"/>
          <p:cNvSpPr txBox="1"/>
          <p:nvPr/>
        </p:nvSpPr>
        <p:spPr>
          <a:xfrm>
            <a:off x="947227" y="9827148"/>
            <a:ext cx="7582662" cy="333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84" b="1" spc="-40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동국대학교 화공생물공학과</a:t>
            </a:r>
            <a:endParaRPr lang="en-US" sz="1984" dirty="0"/>
          </a:p>
        </p:txBody>
      </p:sp>
      <p:sp>
        <p:nvSpPr>
          <p:cNvPr id="52" name="Text 41"/>
          <p:cNvSpPr txBox="1"/>
          <p:nvPr/>
        </p:nvSpPr>
        <p:spPr>
          <a:xfrm>
            <a:off x="2123785" y="10225278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8" spc="83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Department of Chemical and Biochemical Engineering</a:t>
            </a:r>
            <a:endParaRPr lang="en-US" sz="978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ORTFOLIO/ae7f2165-5978-53c2-a65a-9e038c81c430/scratchpad/ppt/assets/orange/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655887" cy="10692079"/>
          </a:xfrm>
          <a:prstGeom prst="rect">
            <a:avLst/>
          </a:prstGeom>
        </p:spPr>
      </p:pic>
      <p:pic>
        <p:nvPicPr>
          <p:cNvPr id="3" name="Image 1" descr="/tmp/claude-0/-home-user-PORTFOLIO/ae7f2165-5978-53c2-a65a-9e038c81c430/scratchpad/ppt/assets/orange/molecul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198" y="-143927"/>
            <a:ext cx="3311957" cy="2614635"/>
          </a:xfrm>
          <a:prstGeom prst="rect">
            <a:avLst/>
          </a:prstGeom>
        </p:spPr>
      </p:pic>
      <p:pic>
        <p:nvPicPr>
          <p:cNvPr id="4" name="Image 2" descr="/tmp/claude-0/-home-user-PORTFOLIO/ae7f2165-5978-53c2-a65a-9e038c81c430/scratchpad/ppt/assets/orange/gla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361" y="6732361"/>
            <a:ext cx="2159996" cy="2879903"/>
          </a:xfrm>
          <a:prstGeom prst="rect">
            <a:avLst/>
          </a:prstGeom>
        </p:spPr>
      </p:pic>
      <p:pic>
        <p:nvPicPr>
          <p:cNvPr id="5" name="Image 3" descr="/tmp/claude-0/-home-user-PORTFOLIO/ae7f2165-5978-53c2-a65a-9e038c81c430/scratchpad/ppt/assets/orange/conto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5887" y="8747790"/>
            <a:ext cx="6165251" cy="2088215"/>
          </a:xfrm>
          <a:prstGeom prst="rect">
            <a:avLst/>
          </a:prstGeom>
        </p:spPr>
      </p:pic>
      <p:pic>
        <p:nvPicPr>
          <p:cNvPr id="6" name="Image 4" descr="/tmp/claude-0/-home-user-PORTFOLIO/ae7f2165-5978-53c2-a65a-9e038c81c430/scratchpad/ppt/assets/orange/ribb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0"/>
            <a:ext cx="1079906" cy="1027694"/>
          </a:xfrm>
          <a:prstGeom prst="rect">
            <a:avLst/>
          </a:prstGeom>
        </p:spPr>
      </p:pic>
      <p:pic>
        <p:nvPicPr>
          <p:cNvPr id="7" name="Image 5" descr="/tmp/claude-0/-home-user-PORTFOLIO/ae7f2165-5978-53c2-a65a-9e038c81c430/scratchpad/ppt/assets/orange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967" y="467898"/>
            <a:ext cx="539953" cy="539953"/>
          </a:xfrm>
          <a:prstGeom prst="rect">
            <a:avLst/>
          </a:prstGeom>
        </p:spPr>
      </p:pic>
      <p:pic>
        <p:nvPicPr>
          <p:cNvPr id="8" name="Image 6" descr="/tmp/claude-0/-home-user-PORTFOLIO/ae7f2165-5978-53c2-a65a-9e038c81c430/scratchpad/ppt/assets/orange/icon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3785" y="5910956"/>
            <a:ext cx="453451" cy="453451"/>
          </a:xfrm>
          <a:prstGeom prst="rect">
            <a:avLst/>
          </a:prstGeom>
        </p:spPr>
      </p:pic>
      <p:pic>
        <p:nvPicPr>
          <p:cNvPr id="9" name="Image 7" descr="/tmp/claude-0/-home-user-PORTFOLIO/ae7f2165-5978-53c2-a65a-9e038c81c430/scratchpad/ppt/assets/orange/icon2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3785" y="6624737"/>
            <a:ext cx="453451" cy="453451"/>
          </a:xfrm>
          <a:prstGeom prst="rect">
            <a:avLst/>
          </a:prstGeom>
        </p:spPr>
      </p:pic>
      <p:pic>
        <p:nvPicPr>
          <p:cNvPr id="10" name="Image 8" descr="/tmp/claude-0/-home-user-PORTFOLIO/ae7f2165-5978-53c2-a65a-9e038c81c430/scratchpad/ppt/assets/orange/icon3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3785" y="7358908"/>
            <a:ext cx="453451" cy="453451"/>
          </a:xfrm>
          <a:prstGeom prst="rect">
            <a:avLst/>
          </a:prstGeom>
        </p:spPr>
      </p:pic>
      <p:sp>
        <p:nvSpPr>
          <p:cNvPr id="11" name="Shape 0"/>
          <p:cNvSpPr/>
          <p:nvPr/>
        </p:nvSpPr>
        <p:spPr>
          <a:xfrm>
            <a:off x="2123785" y="730788"/>
            <a:ext cx="4005438" cy="14265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" name="Shape 1"/>
          <p:cNvSpPr/>
          <p:nvPr/>
        </p:nvSpPr>
        <p:spPr>
          <a:xfrm>
            <a:off x="2123785" y="3099267"/>
            <a:ext cx="5229454" cy="13350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3" name="Shape 2"/>
          <p:cNvSpPr/>
          <p:nvPr/>
        </p:nvSpPr>
        <p:spPr>
          <a:xfrm>
            <a:off x="2123785" y="4691146"/>
            <a:ext cx="3346704" cy="13350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4" name="Shape 3"/>
          <p:cNvSpPr/>
          <p:nvPr/>
        </p:nvSpPr>
        <p:spPr>
          <a:xfrm>
            <a:off x="2123785" y="9183685"/>
            <a:ext cx="5229454" cy="13350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5" name="Shape 4"/>
          <p:cNvSpPr/>
          <p:nvPr/>
        </p:nvSpPr>
        <p:spPr>
          <a:xfrm>
            <a:off x="821680" y="1295979"/>
            <a:ext cx="13350" cy="323972"/>
          </a:xfrm>
          <a:prstGeom prst="rect">
            <a:avLst/>
          </a:prstGeom>
          <a:solidFill>
            <a:srgbClr val="F6BC94"/>
          </a:solidFill>
          <a:ln w="12700">
            <a:solidFill>
              <a:srgbClr val="F6BC94"/>
            </a:solidFill>
            <a:prstDash val="solid"/>
          </a:ln>
        </p:spPr>
      </p:sp>
      <p:sp>
        <p:nvSpPr>
          <p:cNvPr id="16" name="Shape 5"/>
          <p:cNvSpPr/>
          <p:nvPr/>
        </p:nvSpPr>
        <p:spPr>
          <a:xfrm>
            <a:off x="3576676" y="9421063"/>
            <a:ext cx="13350" cy="143927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7" name="Shape 6"/>
          <p:cNvSpPr/>
          <p:nvPr/>
        </p:nvSpPr>
        <p:spPr>
          <a:xfrm>
            <a:off x="4733117" y="9421063"/>
            <a:ext cx="13350" cy="143927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8" name="Shape 7"/>
          <p:cNvSpPr/>
          <p:nvPr/>
        </p:nvSpPr>
        <p:spPr>
          <a:xfrm>
            <a:off x="5889559" y="9421063"/>
            <a:ext cx="13350" cy="143927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2739177" y="6066130"/>
            <a:ext cx="13350" cy="142921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20" name="Shape 9"/>
          <p:cNvSpPr/>
          <p:nvPr/>
        </p:nvSpPr>
        <p:spPr>
          <a:xfrm>
            <a:off x="2739177" y="6780002"/>
            <a:ext cx="13350" cy="142921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21" name="Shape 10"/>
          <p:cNvSpPr/>
          <p:nvPr/>
        </p:nvSpPr>
        <p:spPr>
          <a:xfrm>
            <a:off x="2739177" y="7514173"/>
            <a:ext cx="13350" cy="142921"/>
          </a:xfrm>
          <a:prstGeom prst="rect">
            <a:avLst/>
          </a:prstGeom>
          <a:solidFill>
            <a:srgbClr val="DCCFC2"/>
          </a:solidFill>
          <a:ln w="12700">
            <a:solidFill>
              <a:srgbClr val="DCCFC2"/>
            </a:solidFill>
            <a:prstDash val="solid"/>
          </a:ln>
        </p:spPr>
      </p:sp>
      <p:sp>
        <p:nvSpPr>
          <p:cNvPr id="22" name="Shape 11"/>
          <p:cNvSpPr/>
          <p:nvPr/>
        </p:nvSpPr>
        <p:spPr>
          <a:xfrm>
            <a:off x="2739360" y="6479621"/>
            <a:ext cx="4109954" cy="0"/>
          </a:xfrm>
          <a:prstGeom prst="line">
            <a:avLst/>
          </a:prstGeom>
          <a:noFill/>
          <a:ln w="9525">
            <a:solidFill>
              <a:srgbClr val="DCCFC2"/>
            </a:solidFill>
            <a:prstDash val="dash"/>
          </a:ln>
        </p:spPr>
      </p:sp>
      <p:sp>
        <p:nvSpPr>
          <p:cNvPr id="23" name="Shape 12"/>
          <p:cNvSpPr/>
          <p:nvPr/>
        </p:nvSpPr>
        <p:spPr>
          <a:xfrm>
            <a:off x="2739360" y="7213793"/>
            <a:ext cx="4109954" cy="0"/>
          </a:xfrm>
          <a:prstGeom prst="line">
            <a:avLst/>
          </a:prstGeom>
          <a:noFill/>
          <a:ln w="9525">
            <a:solidFill>
              <a:srgbClr val="DCCFC2"/>
            </a:solidFill>
            <a:prstDash val="dash"/>
          </a:ln>
        </p:spPr>
      </p:sp>
      <p:sp>
        <p:nvSpPr>
          <p:cNvPr id="24" name="Text 13"/>
          <p:cNvSpPr txBox="1"/>
          <p:nvPr/>
        </p:nvSpPr>
        <p:spPr>
          <a:xfrm>
            <a:off x="-372618" y="1087039"/>
            <a:ext cx="2401032" cy="205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46" b="1" spc="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dongguk</a:t>
            </a:r>
            <a:endParaRPr lang="en-US" sz="1446" dirty="0"/>
          </a:p>
        </p:txBody>
      </p:sp>
      <p:sp>
        <p:nvSpPr>
          <p:cNvPr id="25" name="Text 14"/>
          <p:cNvSpPr txBox="1"/>
          <p:nvPr/>
        </p:nvSpPr>
        <p:spPr>
          <a:xfrm>
            <a:off x="-372618" y="1292779"/>
            <a:ext cx="2401032" cy="205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46" spc="7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university</a:t>
            </a:r>
            <a:endParaRPr lang="en-US" sz="1446" dirty="0"/>
          </a:p>
        </p:txBody>
      </p:sp>
      <p:sp>
        <p:nvSpPr>
          <p:cNvPr id="26" name="Text 15"/>
          <p:cNvSpPr txBox="1"/>
          <p:nvPr/>
        </p:nvSpPr>
        <p:spPr>
          <a:xfrm>
            <a:off x="723656" y="1727942"/>
            <a:ext cx="208666" cy="5003231"/>
          </a:xfrm>
          <a:prstGeom prst="rect">
            <a:avLst/>
          </a:prstGeom>
          <a:noFill/>
          <a:ln/>
        </p:spPr>
        <p:txBody>
          <a:bodyPr wrap="square" lIns="0" tIns="0" rIns="0" bIns="0" rtlCol="0" anchor="t" vert="ver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5" spc="259" kern="0" dirty="0">
                <a:solidFill>
                  <a:srgbClr val="FDF3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DEPARTMENT OF CHEMICAL AND BIOCHEMICAL ENGINEERING</a:t>
            </a:r>
            <a:endParaRPr lang="en-US" sz="865" dirty="0"/>
          </a:p>
        </p:txBody>
      </p:sp>
      <p:sp>
        <p:nvSpPr>
          <p:cNvPr id="27" name="Text 16"/>
          <p:cNvSpPr txBox="1"/>
          <p:nvPr/>
        </p:nvSpPr>
        <p:spPr>
          <a:xfrm>
            <a:off x="125913" y="9828154"/>
            <a:ext cx="1959925" cy="6480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102" spc="51" kern="0" dirty="0">
                <a:ln w="16256">
                  <a:solidFill>
                    <a:srgbClr val="9F7D6D"/>
                  </a:solidFill>
                </a:ln>
                <a:noFill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CBE</a:t>
            </a:r>
            <a:endParaRPr lang="en-US" sz="5102" dirty="0"/>
          </a:p>
        </p:txBody>
      </p:sp>
      <p:sp>
        <p:nvSpPr>
          <p:cNvPr id="28" name="Text 17"/>
          <p:cNvSpPr txBox="1"/>
          <p:nvPr/>
        </p:nvSpPr>
        <p:spPr>
          <a:xfrm>
            <a:off x="6066404" y="233995"/>
            <a:ext cx="1565910" cy="237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71" b="1" spc="-19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</a:t>
            </a:r>
            <a:endParaRPr lang="en-US" sz="1871" dirty="0"/>
          </a:p>
        </p:txBody>
      </p:sp>
      <p:sp>
        <p:nvSpPr>
          <p:cNvPr id="29" name="Text 18"/>
          <p:cNvSpPr txBox="1"/>
          <p:nvPr/>
        </p:nvSpPr>
        <p:spPr>
          <a:xfrm>
            <a:off x="6066404" y="511058"/>
            <a:ext cx="15659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4" b="1" spc="-13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화공세미나</a:t>
            </a:r>
            <a:endParaRPr lang="en-US" sz="1304" dirty="0"/>
          </a:p>
        </p:txBody>
      </p:sp>
      <p:sp>
        <p:nvSpPr>
          <p:cNvPr id="30" name="Text 19"/>
          <p:cNvSpPr txBox="1"/>
          <p:nvPr/>
        </p:nvSpPr>
        <p:spPr>
          <a:xfrm>
            <a:off x="2123785" y="503926"/>
            <a:ext cx="4005438" cy="13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35" b="1" spc="178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Chemical &amp; Biochemical Engineering Seminar</a:t>
            </a:r>
            <a:endParaRPr lang="en-US" sz="935" dirty="0"/>
          </a:p>
        </p:txBody>
      </p:sp>
      <p:sp>
        <p:nvSpPr>
          <p:cNvPr id="31" name="Text 20"/>
          <p:cNvSpPr txBox="1"/>
          <p:nvPr/>
        </p:nvSpPr>
        <p:spPr>
          <a:xfrm>
            <a:off x="2123785" y="1040496"/>
            <a:ext cx="5229454" cy="5429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27" spc="38" kern="0" dirty="0">
                <a:solidFill>
                  <a:srgbClr val="CD70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2026-2</a:t>
            </a:r>
            <a:pPr algn="l" indent="0" marL="0">
              <a:lnSpc>
                <a:spcPct val="100000"/>
              </a:lnSpc>
              <a:buNone/>
            </a:pPr>
            <a:r>
              <a:rPr lang="en-US" sz="2381" b="1" spc="-24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15주차</a:t>
            </a:r>
            <a:endParaRPr lang="en-US" sz="3827" dirty="0"/>
          </a:p>
        </p:txBody>
      </p:sp>
      <p:sp>
        <p:nvSpPr>
          <p:cNvPr id="32" name="Text 21"/>
          <p:cNvSpPr txBox="1"/>
          <p:nvPr/>
        </p:nvSpPr>
        <p:spPr>
          <a:xfrm>
            <a:off x="2123785" y="1590965"/>
            <a:ext cx="7582662" cy="936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228" b="1" spc="-202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화공세미나</a:t>
            </a:r>
            <a:endParaRPr lang="en-US" sz="7228" dirty="0"/>
          </a:p>
        </p:txBody>
      </p:sp>
      <p:sp>
        <p:nvSpPr>
          <p:cNvPr id="33" name="Text 22"/>
          <p:cNvSpPr txBox="1"/>
          <p:nvPr/>
        </p:nvSpPr>
        <p:spPr>
          <a:xfrm>
            <a:off x="2123785" y="2620762"/>
            <a:ext cx="5229454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76" spc="108" kern="0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Chemical &amp; Biochemical Engineering Seminar</a:t>
            </a:r>
            <a:endParaRPr lang="en-US" sz="1276" dirty="0"/>
          </a:p>
        </p:txBody>
      </p:sp>
      <p:sp>
        <p:nvSpPr>
          <p:cNvPr id="34" name="Text 23"/>
          <p:cNvSpPr txBox="1"/>
          <p:nvPr/>
        </p:nvSpPr>
        <p:spPr>
          <a:xfrm>
            <a:off x="2123785" y="3362706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20" b="1" spc="265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Speaker</a:t>
            </a:r>
            <a:endParaRPr lang="en-US" sz="1020" dirty="0"/>
          </a:p>
        </p:txBody>
      </p:sp>
      <p:sp>
        <p:nvSpPr>
          <p:cNvPr id="35" name="Text 24"/>
          <p:cNvSpPr txBox="1"/>
          <p:nvPr/>
        </p:nvSpPr>
        <p:spPr>
          <a:xfrm>
            <a:off x="2123785" y="3627882"/>
            <a:ext cx="5229454" cy="50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118" b="1" spc="-62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이의수 교수</a:t>
            </a:r>
            <a:endParaRPr lang="en-US" sz="3118" dirty="0"/>
          </a:p>
        </p:txBody>
      </p:sp>
      <p:sp>
        <p:nvSpPr>
          <p:cNvPr id="36" name="Text 25"/>
          <p:cNvSpPr txBox="1"/>
          <p:nvPr/>
        </p:nvSpPr>
        <p:spPr>
          <a:xfrm>
            <a:off x="2123785" y="4136106"/>
            <a:ext cx="5229454" cy="5549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2" dirty="0">
                <a:solidFill>
                  <a:srgbClr val="4A3E3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동국대학교 화공생물공학과</a:t>
            </a:r>
            <a:endParaRPr lang="en-US" sz="1502" dirty="0"/>
          </a:p>
        </p:txBody>
      </p:sp>
      <p:sp>
        <p:nvSpPr>
          <p:cNvPr id="37" name="Text 26"/>
          <p:cNvSpPr txBox="1"/>
          <p:nvPr/>
        </p:nvSpPr>
        <p:spPr>
          <a:xfrm>
            <a:off x="2123785" y="4954585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20" b="1" spc="265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</a:t>
            </a:r>
            <a:endParaRPr lang="en-US" sz="1020" dirty="0"/>
          </a:p>
        </p:txBody>
      </p:sp>
      <p:sp>
        <p:nvSpPr>
          <p:cNvPr id="38" name="Text 27"/>
          <p:cNvSpPr txBox="1"/>
          <p:nvPr/>
        </p:nvSpPr>
        <p:spPr>
          <a:xfrm>
            <a:off x="2123785" y="5219761"/>
            <a:ext cx="5229454" cy="66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51" b="1" spc="-64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시대의 화학생물공학 역할과 미래</a:t>
            </a:r>
            <a:endParaRPr lang="en-US" sz="2551" dirty="0"/>
          </a:p>
        </p:txBody>
      </p:sp>
      <p:sp>
        <p:nvSpPr>
          <p:cNvPr id="39" name="Text 28"/>
          <p:cNvSpPr txBox="1"/>
          <p:nvPr/>
        </p:nvSpPr>
        <p:spPr>
          <a:xfrm>
            <a:off x="2739177" y="6066130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DATE</a:t>
            </a:r>
            <a:endParaRPr lang="en-US" sz="992" dirty="0"/>
          </a:p>
        </p:txBody>
      </p:sp>
      <p:sp>
        <p:nvSpPr>
          <p:cNvPr id="40" name="Text 29"/>
          <p:cNvSpPr txBox="1"/>
          <p:nvPr/>
        </p:nvSpPr>
        <p:spPr>
          <a:xfrm>
            <a:off x="3603010" y="6003676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12. 09 (수)</a:t>
            </a:r>
            <a:endParaRPr lang="en-US" sz="1757" dirty="0"/>
          </a:p>
        </p:txBody>
      </p:sp>
      <p:sp>
        <p:nvSpPr>
          <p:cNvPr id="41" name="Text 30"/>
          <p:cNvSpPr txBox="1"/>
          <p:nvPr/>
        </p:nvSpPr>
        <p:spPr>
          <a:xfrm>
            <a:off x="2739177" y="6780002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TIME</a:t>
            </a:r>
            <a:endParaRPr lang="en-US" sz="992" dirty="0"/>
          </a:p>
        </p:txBody>
      </p:sp>
      <p:sp>
        <p:nvSpPr>
          <p:cNvPr id="42" name="Text 31"/>
          <p:cNvSpPr txBox="1"/>
          <p:nvPr/>
        </p:nvSpPr>
        <p:spPr>
          <a:xfrm>
            <a:off x="3603010" y="6604345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17:00 – 18:20</a:t>
            </a:r>
            <a:endParaRPr lang="en-US" sz="1757" dirty="0"/>
          </a:p>
        </p:txBody>
      </p:sp>
      <p:sp>
        <p:nvSpPr>
          <p:cNvPr id="43" name="Text 32"/>
          <p:cNvSpPr txBox="1"/>
          <p:nvPr/>
        </p:nvSpPr>
        <p:spPr>
          <a:xfrm>
            <a:off x="3603010" y="6897411"/>
            <a:ext cx="3750229" cy="20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19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(50분 강의, 30분 질의응답)</a:t>
            </a:r>
            <a:endParaRPr lang="en-US" sz="1219" dirty="0"/>
          </a:p>
        </p:txBody>
      </p:sp>
      <p:sp>
        <p:nvSpPr>
          <p:cNvPr id="44" name="Text 33"/>
          <p:cNvSpPr txBox="1"/>
          <p:nvPr/>
        </p:nvSpPr>
        <p:spPr>
          <a:xfrm>
            <a:off x="2739177" y="7514173"/>
            <a:ext cx="1017727" cy="1429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92" b="1" spc="198" kern="0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VENUE</a:t>
            </a:r>
            <a:endParaRPr lang="en-US" sz="992" dirty="0"/>
          </a:p>
        </p:txBody>
      </p:sp>
      <p:sp>
        <p:nvSpPr>
          <p:cNvPr id="45" name="Text 34"/>
          <p:cNvSpPr txBox="1"/>
          <p:nvPr/>
        </p:nvSpPr>
        <p:spPr>
          <a:xfrm>
            <a:off x="3603010" y="7338517"/>
            <a:ext cx="3750229" cy="267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57" b="1" spc="-26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원흥관 650호</a:t>
            </a:r>
            <a:endParaRPr lang="en-US" sz="1757" dirty="0"/>
          </a:p>
        </p:txBody>
      </p:sp>
      <p:sp>
        <p:nvSpPr>
          <p:cNvPr id="46" name="Text 35"/>
          <p:cNvSpPr txBox="1"/>
          <p:nvPr/>
        </p:nvSpPr>
        <p:spPr>
          <a:xfrm>
            <a:off x="3603010" y="7631582"/>
            <a:ext cx="3750229" cy="2012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19" dirty="0">
                <a:solidFill>
                  <a:srgbClr val="6B5C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Wonheung Building, Room 650</a:t>
            </a:r>
            <a:endParaRPr lang="en-US" sz="1219" dirty="0"/>
          </a:p>
        </p:txBody>
      </p:sp>
      <p:sp>
        <p:nvSpPr>
          <p:cNvPr id="47" name="Text 36"/>
          <p:cNvSpPr txBox="1"/>
          <p:nvPr/>
        </p:nvSpPr>
        <p:spPr>
          <a:xfrm>
            <a:off x="2173254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최신기술</a:t>
            </a:r>
            <a:endParaRPr lang="en-US" sz="1191" dirty="0"/>
          </a:p>
        </p:txBody>
      </p:sp>
      <p:sp>
        <p:nvSpPr>
          <p:cNvPr id="48" name="Text 37"/>
          <p:cNvSpPr txBox="1"/>
          <p:nvPr/>
        </p:nvSpPr>
        <p:spPr>
          <a:xfrm>
            <a:off x="3329605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산업동향</a:t>
            </a:r>
            <a:endParaRPr lang="en-US" sz="1191" dirty="0"/>
          </a:p>
        </p:txBody>
      </p:sp>
      <p:sp>
        <p:nvSpPr>
          <p:cNvPr id="49" name="Text 38"/>
          <p:cNvSpPr txBox="1"/>
          <p:nvPr/>
        </p:nvSpPr>
        <p:spPr>
          <a:xfrm>
            <a:off x="4486046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진로탐색</a:t>
            </a:r>
            <a:endParaRPr lang="en-US" sz="1191" dirty="0"/>
          </a:p>
        </p:txBody>
      </p:sp>
      <p:sp>
        <p:nvSpPr>
          <p:cNvPr id="50" name="Text 39"/>
          <p:cNvSpPr txBox="1"/>
          <p:nvPr/>
        </p:nvSpPr>
        <p:spPr>
          <a:xfrm>
            <a:off x="5642488" y="9393083"/>
            <a:ext cx="1661282" cy="200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91" b="1" spc="357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미래비전</a:t>
            </a:r>
            <a:endParaRPr lang="en-US" sz="1191" dirty="0"/>
          </a:p>
        </p:txBody>
      </p:sp>
      <p:sp>
        <p:nvSpPr>
          <p:cNvPr id="51" name="Text 40"/>
          <p:cNvSpPr txBox="1"/>
          <p:nvPr/>
        </p:nvSpPr>
        <p:spPr>
          <a:xfrm>
            <a:off x="947227" y="9827148"/>
            <a:ext cx="7582662" cy="3333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84" b="1" spc="-40" kern="0" dirty="0">
                <a:solidFill>
                  <a:srgbClr val="2B23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동국대학교 화공생물공학과</a:t>
            </a:r>
            <a:endParaRPr lang="en-US" sz="1984" dirty="0"/>
          </a:p>
        </p:txBody>
      </p:sp>
      <p:sp>
        <p:nvSpPr>
          <p:cNvPr id="52" name="Text 41"/>
          <p:cNvSpPr txBox="1"/>
          <p:nvPr/>
        </p:nvSpPr>
        <p:spPr>
          <a:xfrm>
            <a:off x="2123785" y="10225278"/>
            <a:ext cx="5229454" cy="142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78" spc="83" kern="0" dirty="0">
                <a:solidFill>
                  <a:srgbClr val="E651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Department of Chemical and Biochemical Engineering</a:t>
            </a:r>
            <a:endParaRPr lang="en-US" sz="97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동국대학교 화공세미나 포스터</dc:title>
  <dc:subject>PptxGenJS Presentation</dc:subject>
  <dc:creator>PptxGenJS</dc:creator>
  <cp:lastModifiedBy>PptxGenJS</cp:lastModifiedBy>
  <cp:revision>1</cp:revision>
  <dcterms:created xsi:type="dcterms:W3CDTF">2026-08-31T05:59:53Z</dcterms:created>
  <dcterms:modified xsi:type="dcterms:W3CDTF">2026-08-31T05:59:53Z</dcterms:modified>
</cp:coreProperties>
</file>